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7" r:id="rId31"/>
    <p:sldId id="285" r:id="rId32"/>
    <p:sldId id="286" r:id="rId33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42"/>
    <p:restoredTop sz="94694"/>
  </p:normalViewPr>
  <p:slideViewPr>
    <p:cSldViewPr snapToGrid="0" showGuides="1">
      <p:cViewPr varScale="1">
        <p:scale>
          <a:sx n="117" d="100"/>
          <a:sy n="117" d="100"/>
        </p:scale>
        <p:origin x="768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DFE90-5F99-B030-BB16-EEEC3414C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5BF8FE-DE63-40F2-B22B-679F367D9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7E61B-BD14-A517-2754-45DE411AF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CD07C-214F-9649-9D76-0E1B1C71EB1C}" type="datetimeFigureOut">
              <a:rPr lang="en-RU" smtClean="0"/>
              <a:t>09.06.2025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A9CB7-86A8-F315-CFFA-E1C11D4FD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DE27D-EBD8-CF19-F6F1-B6EE9502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3411-26B5-0A46-8BDF-E702A06779E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673749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FCB94-EFB2-F0E1-A980-0932117C9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592D3-0CDC-CA28-270C-28E25112E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755FD-51CD-B8DD-5529-A70FDA99E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CD07C-214F-9649-9D76-0E1B1C71EB1C}" type="datetimeFigureOut">
              <a:rPr lang="en-RU" smtClean="0"/>
              <a:t>09.06.2025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2E7B9-8C6E-B884-F128-56B05CC8C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F7515-A96F-7D0F-27BB-A35E3CC78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3411-26B5-0A46-8BDF-E702A06779E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25493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819A9-25B9-0407-5CD2-8F6E09091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F6DFE-C34E-18F7-6F9B-F0EFBA54F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22FCD-22FB-97D6-2C3F-DDF15291F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CD07C-214F-9649-9D76-0E1B1C71EB1C}" type="datetimeFigureOut">
              <a:rPr lang="en-RU" smtClean="0"/>
              <a:t>09.06.2025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9321B-1BEA-27ED-BE8D-BC1D4C7AF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BCC74-3193-A28A-6CF2-C2D59C6C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3411-26B5-0A46-8BDF-E702A06779E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232343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8EBC9-F8F2-BBAF-B230-BD0D48248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76A4C-F317-D8DD-F5C0-71DB517A8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B26FAF-5C24-D23A-9643-07A953234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B7B1A1-A9D6-5AEC-6DAB-C6F347B6B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CD07C-214F-9649-9D76-0E1B1C71EB1C}" type="datetimeFigureOut">
              <a:rPr lang="en-RU" smtClean="0"/>
              <a:t>09.06.2025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884E3-9645-013C-ECF7-B31FAC058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08E92-D846-2AB5-7FDD-26B1D244E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3411-26B5-0A46-8BDF-E702A06779E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2778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1D763-93D9-06B7-5C13-FFE8B2D91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81A44-7CD1-EDB4-28EF-D0D4E9B85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0FA1A6-C77D-8FA3-0CF3-74EA84127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EE33F1-1F1A-1674-BCB3-E50589F135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7AB795-D8C1-6A1B-1990-9D00127106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324AA9-67AD-C99E-6862-BA574640C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CD07C-214F-9649-9D76-0E1B1C71EB1C}" type="datetimeFigureOut">
              <a:rPr lang="en-RU" smtClean="0"/>
              <a:t>09.06.2025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E3530-7FC7-C01B-DA3E-99C665F26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BE5661-4396-0D2B-A3D3-B1EBB93B0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3411-26B5-0A46-8BDF-E702A06779E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927690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7578-C84C-0A37-AD35-444033109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7D963-08CB-CC9E-DA96-80AE36343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CD07C-214F-9649-9D76-0E1B1C71EB1C}" type="datetimeFigureOut">
              <a:rPr lang="en-RU" smtClean="0"/>
              <a:t>09.06.2025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5B9706-B820-AE68-9C36-C4914CAAB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C4BF3-CD60-5ADA-6B67-0BDB78A7D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3411-26B5-0A46-8BDF-E702A06779E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58743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647C1C-3121-6C65-9061-1D4262E76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CD07C-214F-9649-9D76-0E1B1C71EB1C}" type="datetimeFigureOut">
              <a:rPr lang="en-RU" smtClean="0"/>
              <a:t>09.06.2025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2883D1-78C2-09FC-2A2E-7DBA15F52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CD6E4-9283-E7F6-AD8C-2F53A1C62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3411-26B5-0A46-8BDF-E702A06779E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09461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B2421-48F8-42BC-933C-31BFF7014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B8FC0-2147-F769-00ED-2908BB7D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FCE4AF-692F-4F6A-B182-F846A661F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7DCB8-D915-B9F9-579E-0638544F9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CD07C-214F-9649-9D76-0E1B1C71EB1C}" type="datetimeFigureOut">
              <a:rPr lang="en-RU" smtClean="0"/>
              <a:t>09.06.2025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3B28E-AD43-587B-2B79-D5D0E1E77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DA9A6-0EE3-24D2-36DA-37F927C63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3411-26B5-0A46-8BDF-E702A06779E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56345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49135-9220-DFA4-D305-B8F15B7F1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CD2B7C-B95B-2E29-7061-27BC81B1F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7DF5E-F397-BC1B-3844-3FB8CAB0E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161E9-8340-CA55-65D8-36708188C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CD07C-214F-9649-9D76-0E1B1C71EB1C}" type="datetimeFigureOut">
              <a:rPr lang="en-RU" smtClean="0"/>
              <a:t>09.06.2025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99DFE6-6AAE-C73E-B6BC-21E857D49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B6BFD-3BED-3088-40D1-9B3F1D170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3411-26B5-0A46-8BDF-E702A06779E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53971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ACF4A-A974-EDB7-6005-62B73300C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974FB-C734-D8AC-B477-4BA1C656C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00ABF-3857-1B45-C17D-CCD82DD9C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CD07C-214F-9649-9D76-0E1B1C71EB1C}" type="datetimeFigureOut">
              <a:rPr lang="en-RU" smtClean="0"/>
              <a:t>09.06.2025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0DFEE-DA5E-E718-84E0-7935D3956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2AABB-B8A1-E286-492A-AFBE6C43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3411-26B5-0A46-8BDF-E702A06779E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3607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99FF56-1BF2-4E51-EDA7-8B941EAE28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5FD86-FFA7-AEAF-93E2-2EDFD4E15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EA509-9FE5-3409-CA22-863FFAAB5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CD07C-214F-9649-9D76-0E1B1C71EB1C}" type="datetimeFigureOut">
              <a:rPr lang="en-RU" smtClean="0"/>
              <a:t>09.06.2025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66A0D-AE24-2B4A-DFFE-9D0007A12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32121-2DFA-69CE-4534-8E02EAE8D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73411-26B5-0A46-8BDF-E702A06779E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69616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DB2E3F-7500-41AC-D78C-B4C215295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F5FC5-F6CA-A2DE-4B13-8C34649F0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153F9-4840-90EB-1215-407402DF5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CD07C-214F-9649-9D76-0E1B1C71EB1C}" type="datetimeFigureOut">
              <a:rPr lang="en-RU" smtClean="0"/>
              <a:t>09.06.2025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6EC51-4417-7FCD-9665-1367AB3AF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0A33D-FE1A-B57F-8C6A-9180AB75B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73411-26B5-0A46-8BDF-E702A06779EE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392651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07DD-A042-DB9F-8E87-59247EF750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Решающие деревья</a:t>
            </a:r>
            <a:endParaRPr lang="en-RU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69549-29CE-9C63-E310-903A03C03F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Математика для анализа данных</a:t>
            </a:r>
            <a:endParaRPr lang="en-RU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557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8AD05-83B1-AEA3-79D9-302CAE9F3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DA544-C523-9007-4A87-29B6F0893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11425"/>
            <a:ext cx="9144000" cy="1835150"/>
          </a:xfrm>
        </p:spPr>
        <p:txBody>
          <a:bodyPr>
            <a:normAutofit/>
          </a:bodyPr>
          <a:lstStyle/>
          <a:p>
            <a:r>
              <a:rPr lang="ru-RU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Идея решающих деревьев</a:t>
            </a:r>
            <a:endParaRPr lang="en-RU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768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5FECD-57E5-FA02-77A2-5F8B8CC55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0600"/>
          </a:xfrm>
        </p:spPr>
        <p:txBody>
          <a:bodyPr>
            <a:normAutofit/>
          </a:bodyPr>
          <a:lstStyle/>
          <a:p>
            <a:r>
              <a:rPr lang="ru-RU" sz="48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Некоторые определения</a:t>
            </a:r>
            <a:endParaRPr lang="en-RU" sz="48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4192B-2885-0DFC-70DF-3C2704B9D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1743"/>
            <a:ext cx="11016343" cy="52952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b="1" dirty="0"/>
              <a:t>Решающее дерево </a:t>
            </a:r>
            <a:r>
              <a:rPr lang="ru-RU" dirty="0"/>
              <a:t>(</a:t>
            </a:r>
            <a:r>
              <a:rPr lang="en-GB" dirty="0"/>
              <a:t>Decision Tree) – </a:t>
            </a:r>
            <a:r>
              <a:rPr lang="ru-RU" dirty="0"/>
              <a:t>это способ принятия решений через последовательность логических вопросов о признаках объекта.</a:t>
            </a:r>
          </a:p>
          <a:p>
            <a:pPr marL="0" indent="0">
              <a:buNone/>
            </a:pPr>
            <a:r>
              <a:rPr lang="ru-RU" b="1" dirty="0"/>
              <a:t>Формально:</a:t>
            </a:r>
          </a:p>
          <a:p>
            <a:pPr marL="0" indent="0">
              <a:buNone/>
            </a:pPr>
            <a:r>
              <a:rPr lang="ru-RU" b="1" dirty="0"/>
              <a:t>Решающее дерево </a:t>
            </a:r>
            <a:r>
              <a:rPr lang="en-US" dirty="0"/>
              <a:t>– </a:t>
            </a:r>
            <a:r>
              <a:rPr lang="ru-RU" dirty="0"/>
              <a:t>это ориентированное дерево, где:</a:t>
            </a:r>
          </a:p>
          <a:p>
            <a:pPr>
              <a:buFont typeface="Wingdings" pitchFamily="2" charset="2"/>
              <a:buChar char="ü"/>
            </a:pPr>
            <a:r>
              <a:rPr lang="ru-RU" b="1" dirty="0"/>
              <a:t>Внутренние узлы</a:t>
            </a:r>
            <a:r>
              <a:rPr lang="ru-RU" dirty="0"/>
              <a:t> (</a:t>
            </a:r>
            <a:r>
              <a:rPr lang="en-GB" dirty="0"/>
              <a:t>non-leaf nodes) – </a:t>
            </a:r>
            <a:r>
              <a:rPr lang="ru-RU" dirty="0"/>
              <a:t>проверки условий на признаки данных (например, «Возраст &gt; 30?»).</a:t>
            </a:r>
          </a:p>
          <a:p>
            <a:pPr>
              <a:buFont typeface="Wingdings" pitchFamily="2" charset="2"/>
              <a:buChar char="ü"/>
            </a:pPr>
            <a:r>
              <a:rPr lang="ru-RU" b="1" dirty="0"/>
              <a:t>Рёбра</a:t>
            </a:r>
            <a:r>
              <a:rPr lang="ru-RU" dirty="0"/>
              <a:t> — возможные результаты проверки (обычно «да»/«нет» или «≤/&gt;»).</a:t>
            </a:r>
          </a:p>
          <a:p>
            <a:pPr>
              <a:buFont typeface="Wingdings" pitchFamily="2" charset="2"/>
              <a:buChar char="ü"/>
            </a:pPr>
            <a:r>
              <a:rPr lang="ru-RU" b="1" dirty="0"/>
              <a:t>Листья</a:t>
            </a:r>
            <a:r>
              <a:rPr lang="ru-RU" dirty="0"/>
              <a:t> (</a:t>
            </a:r>
            <a:r>
              <a:rPr lang="en-GB" dirty="0"/>
              <a:t>leaves) — </a:t>
            </a:r>
            <a:r>
              <a:rPr lang="ru-RU" dirty="0"/>
              <a:t>итоговые ответы модели: например, предсказанный класс («купит», «не купит») или значение (при регрессии).</a:t>
            </a:r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219127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7B2A0-9531-2460-F27E-79F6E5BD5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C373E-B00C-D9CB-F455-D98F5634B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0600"/>
          </a:xfrm>
        </p:spPr>
        <p:txBody>
          <a:bodyPr>
            <a:normAutofit/>
          </a:bodyPr>
          <a:lstStyle/>
          <a:p>
            <a:r>
              <a:rPr lang="ru-RU" sz="48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Принцип работы</a:t>
            </a:r>
            <a:endParaRPr lang="en-RU" sz="48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E4984-77DE-61CC-C934-3E94D7C3D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7127"/>
            <a:ext cx="10979727" cy="456983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ü"/>
            </a:pPr>
            <a:r>
              <a:rPr lang="ru-RU" dirty="0"/>
              <a:t>Мы «задаём вопросы» о признаках объекта (например: «Доход &gt; 50 тыс.?»).</a:t>
            </a:r>
          </a:p>
          <a:p>
            <a:pPr>
              <a:buFont typeface="Wingdings" pitchFamily="2" charset="2"/>
              <a:buChar char="ü"/>
            </a:pPr>
            <a:r>
              <a:rPr lang="ru-RU" dirty="0"/>
              <a:t>В зависимости от ответа, переходим по соответствующей ветке.</a:t>
            </a:r>
          </a:p>
          <a:p>
            <a:pPr>
              <a:buFont typeface="Wingdings" pitchFamily="2" charset="2"/>
              <a:buChar char="ü"/>
            </a:pPr>
            <a:r>
              <a:rPr lang="ru-RU" dirty="0"/>
              <a:t>Когда доходим до листа, получаем результат — например, класс объекта.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i="1" dirty="0"/>
              <a:t>Таким образом, дерево строит путь от корня к листу, задавая уточняющие вопросы, чтобы принять окончательное решение.</a:t>
            </a:r>
          </a:p>
          <a:p>
            <a:endParaRPr lang="ru-RU" dirty="0"/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77072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156B3-FF26-0DF0-1292-D37D8EC4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E2EBE-9506-7C76-6D35-441A9B4CF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8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Формальная запись дерева</a:t>
            </a:r>
            <a:endParaRPr lang="en-RU" sz="48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E3AC3E-EA95-4019-712E-B2B9CD3C5A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81742"/>
                <a:ext cx="11242964" cy="582385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b="1" dirty="0"/>
                  <a:t>Решающее дерево реализует функцию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GB" dirty="0"/>
                  <a:t>, </a:t>
                </a:r>
                <a:r>
                  <a:rPr lang="ru-RU" dirty="0"/>
                  <a:t>где: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 – </a:t>
                </a:r>
                <a:r>
                  <a:rPr lang="ru-RU" dirty="0"/>
                  <a:t>пространство признаков (например, возраст, доход),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dirty="0"/>
                  <a:t> – </a:t>
                </a:r>
                <a:r>
                  <a:rPr lang="ru-RU" dirty="0"/>
                  <a:t>пространство ответов (например, классы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Да, Нет</m:t>
                        </m:r>
                      </m:e>
                    </m:d>
                  </m:oMath>
                </a14:m>
                <a:r>
                  <a:rPr lang="ru-RU" dirty="0"/>
                  <a:t>).</a:t>
                </a:r>
                <a:endParaRPr lang="en-US" dirty="0"/>
              </a:p>
              <a:p>
                <a:pPr marL="0" indent="0">
                  <a:buNone/>
                </a:pPr>
                <a:r>
                  <a:rPr lang="ru-RU" b="1" dirty="0"/>
                  <a:t>Функция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ru-RU" b="1" dirty="0"/>
                  <a:t>определяется как:</a:t>
                </a:r>
              </a:p>
              <a:p>
                <a:pPr>
                  <a:buFont typeface="Wingdings" pitchFamily="2" charset="2"/>
                  <a:buChar char="ü"/>
                </a:pPr>
                <a:r>
                  <a:rPr lang="ru-RU" dirty="0"/>
                  <a:t>Выбрать корневой узел.</a:t>
                </a:r>
              </a:p>
              <a:p>
                <a:pPr>
                  <a:buFont typeface="Wingdings" pitchFamily="2" charset="2"/>
                  <a:buChar char="ü"/>
                </a:pPr>
                <a:r>
                  <a:rPr lang="ru-RU" dirty="0"/>
                  <a:t>Проверить условие (например,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&gt;30</m:t>
                    </m:r>
                  </m:oMath>
                </a14:m>
                <a:r>
                  <a:rPr lang="en-GB" dirty="0"/>
                  <a:t>?).</a:t>
                </a:r>
              </a:p>
              <a:p>
                <a:pPr>
                  <a:buFont typeface="Wingdings" pitchFamily="2" charset="2"/>
                  <a:buChar char="ü"/>
                </a:pPr>
                <a:r>
                  <a:rPr lang="ru-RU" dirty="0"/>
                  <a:t>Перейти влево или вправо.</a:t>
                </a:r>
              </a:p>
              <a:p>
                <a:pPr>
                  <a:buFont typeface="Wingdings" pitchFamily="2" charset="2"/>
                  <a:buChar char="ü"/>
                </a:pPr>
                <a:r>
                  <a:rPr lang="ru-RU" dirty="0"/>
                  <a:t>Повторять до достижения листа.</a:t>
                </a:r>
              </a:p>
              <a:p>
                <a:pPr>
                  <a:buFont typeface="Wingdings" pitchFamily="2" charset="2"/>
                  <a:buChar char="ü"/>
                </a:pPr>
                <a:r>
                  <a:rPr lang="ru-RU" dirty="0"/>
                  <a:t>Вернуть предсказание, записанное в листе.</a:t>
                </a:r>
              </a:p>
              <a:p>
                <a:pPr marL="0" indent="0">
                  <a:buNone/>
                </a:pPr>
                <a:r>
                  <a:rPr lang="ru-RU" i="1" dirty="0"/>
                  <a:t>Таким образом, дерево строит разбиение пространства признаков </a:t>
                </a:r>
                <a:r>
                  <a:rPr lang="en-GB" i="1" dirty="0"/>
                  <a:t>X </a:t>
                </a:r>
                <a:r>
                  <a:rPr lang="ru-RU" i="1" dirty="0"/>
                  <a:t>на области, внутри которых объекты предсказываются одинаково.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endParaRPr lang="ru-RU" dirty="0"/>
              </a:p>
              <a:p>
                <a:endParaRPr lang="en-R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E3AC3E-EA95-4019-712E-B2B9CD3C5A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81742"/>
                <a:ext cx="11242964" cy="5823857"/>
              </a:xfrm>
              <a:blipFill>
                <a:blip r:embed="rId2"/>
                <a:stretch>
                  <a:fillRect l="-1129" t="-1743" r="-226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5060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2C526-2445-EDB1-13F3-8EF97CED7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D8824-A82E-50B8-93A7-7DFA27CD3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8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Иллюстрация на примере</a:t>
            </a:r>
            <a:endParaRPr lang="en-RU" sz="48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3DA1B92-6084-3763-A650-3A82014412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398909"/>
              </p:ext>
            </p:extLst>
          </p:nvPr>
        </p:nvGraphicFramePr>
        <p:xfrm>
          <a:off x="838199" y="1188720"/>
          <a:ext cx="5451765" cy="32004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279559">
                  <a:extLst>
                    <a:ext uri="{9D8B030D-6E8A-4147-A177-3AD203B41FA5}">
                      <a16:colId xmlns:a16="http://schemas.microsoft.com/office/drawing/2014/main" val="1249080389"/>
                    </a:ext>
                  </a:extLst>
                </a:gridCol>
                <a:gridCol w="1749200">
                  <a:extLst>
                    <a:ext uri="{9D8B030D-6E8A-4147-A177-3AD203B41FA5}">
                      <a16:colId xmlns:a16="http://schemas.microsoft.com/office/drawing/2014/main" val="936433698"/>
                    </a:ext>
                  </a:extLst>
                </a:gridCol>
                <a:gridCol w="2423006">
                  <a:extLst>
                    <a:ext uri="{9D8B030D-6E8A-4147-A177-3AD203B41FA5}">
                      <a16:colId xmlns:a16="http://schemas.microsoft.com/office/drawing/2014/main" val="19651383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b="1" dirty="0"/>
                        <a:t>Возраст</a:t>
                      </a:r>
                      <a:endParaRPr lang="ru-R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b="1" dirty="0"/>
                        <a:t>Доход (</a:t>
                      </a:r>
                      <a:r>
                        <a:rPr lang="ru-RU" sz="2400" b="1" dirty="0" err="1"/>
                        <a:t>тыс</a:t>
                      </a:r>
                      <a:r>
                        <a:rPr lang="ru-RU" sz="2400" b="1" dirty="0"/>
                        <a:t>)</a:t>
                      </a:r>
                      <a:endParaRPr lang="ru-RU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b="1"/>
                        <a:t>Купит подписку?</a:t>
                      </a:r>
                      <a:endParaRPr lang="ru-RU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3064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U" sz="2400" dirty="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U" sz="2400" dirty="0"/>
                        <a:t>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dirty="0"/>
                        <a:t>Нет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5631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U" sz="2400" dirty="0"/>
                        <a:t>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U" sz="2400"/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dirty="0"/>
                        <a:t>Нет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594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U" sz="2400"/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U" sz="2400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dirty="0"/>
                        <a:t>Да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965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U" sz="2400"/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U" sz="2400"/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dirty="0"/>
                        <a:t>Да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7644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U" sz="240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U" sz="2400"/>
                        <a:t>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dirty="0"/>
                        <a:t>Да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6542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U" sz="2400" dirty="0"/>
                        <a:t>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U" sz="2400" dirty="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dirty="0"/>
                        <a:t>Нет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67291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4938E69-3989-89CB-80C6-BEC0092C8889}"/>
              </a:ext>
            </a:extLst>
          </p:cNvPr>
          <p:cNvSpPr txBox="1"/>
          <p:nvPr/>
        </p:nvSpPr>
        <p:spPr>
          <a:xfrm>
            <a:off x="6393874" y="1307974"/>
            <a:ext cx="556259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Возраст &gt; 30?</a:t>
            </a:r>
          </a:p>
          <a:p>
            <a:r>
              <a:rPr lang="en-RU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├── Нет (Возраст ≤ 30)</a:t>
            </a:r>
          </a:p>
          <a:p>
            <a:r>
              <a:rPr lang="en-RU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│   └── Доход &gt; 47?</a:t>
            </a:r>
          </a:p>
          <a:p>
            <a:r>
              <a:rPr lang="en-RU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│       ├── Нет → Не купит</a:t>
            </a:r>
          </a:p>
          <a:p>
            <a:r>
              <a:rPr lang="en-RU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│       └── Да  → Купит</a:t>
            </a:r>
          </a:p>
          <a:p>
            <a:r>
              <a:rPr lang="en-RU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└── Да (Возраст &gt; 30)</a:t>
            </a:r>
          </a:p>
          <a:p>
            <a:r>
              <a:rPr lang="en-RU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    └── Доход &gt; 70?</a:t>
            </a:r>
          </a:p>
          <a:p>
            <a:r>
              <a:rPr lang="en-RU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        ├── Нет</a:t>
            </a:r>
          </a:p>
          <a:p>
            <a:r>
              <a:rPr lang="en-RU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        │   └── Доход &gt; 50?</a:t>
            </a:r>
          </a:p>
          <a:p>
            <a:r>
              <a:rPr lang="en-RU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        │       ├── Нет → Не купит</a:t>
            </a:r>
          </a:p>
          <a:p>
            <a:r>
              <a:rPr lang="en-RU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        │       └── Да  → Купит</a:t>
            </a:r>
          </a:p>
          <a:p>
            <a:r>
              <a:rPr lang="en-RU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        └── Да → Купит</a:t>
            </a:r>
          </a:p>
        </p:txBody>
      </p:sp>
    </p:spTree>
    <p:extLst>
      <p:ext uri="{BB962C8B-B14F-4D97-AF65-F5344CB8AC3E}">
        <p14:creationId xmlns:p14="http://schemas.microsoft.com/office/powerpoint/2010/main" val="227258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5BFE5-F671-4CE3-36BB-04695A7D0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0227C-8E0F-A243-0F78-41695B49B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8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Почему это работает?</a:t>
            </a:r>
            <a:endParaRPr lang="en-RU" sz="48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7B70688-9E62-C3A6-3452-9B8B18D17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1742"/>
            <a:ext cx="11242964" cy="5823857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ü"/>
            </a:pPr>
            <a:r>
              <a:rPr lang="ru-RU" b="1" dirty="0"/>
              <a:t>Простота проверок:</a:t>
            </a:r>
            <a:r>
              <a:rPr lang="ru-RU" dirty="0"/>
              <a:t> каждая проверка — это очень простое условие (одноразовая проверка признака).</a:t>
            </a:r>
          </a:p>
          <a:p>
            <a:pPr>
              <a:buFont typeface="Wingdings" pitchFamily="2" charset="2"/>
              <a:buChar char="ü"/>
            </a:pPr>
            <a:r>
              <a:rPr lang="ru-RU" b="1" dirty="0"/>
              <a:t>Локальные решения:</a:t>
            </a:r>
            <a:r>
              <a:rPr lang="ru-RU" dirty="0"/>
              <a:t> на каждом этапе мы уточняем только часть информации (не сразу всё).</a:t>
            </a:r>
          </a:p>
          <a:p>
            <a:pPr>
              <a:buFont typeface="Wingdings" pitchFamily="2" charset="2"/>
              <a:buChar char="ü"/>
            </a:pPr>
            <a:r>
              <a:rPr lang="ru-RU" b="1" dirty="0"/>
              <a:t>Декомпозиция задачи:</a:t>
            </a:r>
            <a:r>
              <a:rPr lang="ru-RU" dirty="0"/>
              <a:t> сложная задача разбивается на несколько простых шагов.</a:t>
            </a:r>
          </a:p>
          <a:p>
            <a:pPr marL="12700" indent="0">
              <a:buNone/>
            </a:pPr>
            <a:br>
              <a:rPr lang="ru-RU" dirty="0"/>
            </a:br>
            <a:r>
              <a:rPr lang="ru-RU" dirty="0"/>
              <a:t>В итоге дерево моделирует сложные зависимости за счёт серии </a:t>
            </a:r>
            <a:r>
              <a:rPr lang="ru-RU" b="1" dirty="0"/>
              <a:t>простых, локальных</a:t>
            </a:r>
            <a:r>
              <a:rPr lang="ru-RU" dirty="0"/>
              <a:t> решений.</a:t>
            </a:r>
          </a:p>
          <a:p>
            <a:pPr marL="0" indent="0">
              <a:buNone/>
            </a:pPr>
            <a:endParaRPr lang="ru-RU" i="1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598555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9B742-E79D-2884-6658-AF3D2821E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CEBE-EE87-3EFC-5007-72AFBA0EC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8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Формула разбиений дерева</a:t>
            </a:r>
            <a:endParaRPr lang="en-RU" sz="48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24C426DC-57D9-0E19-E040-D6A8050141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81742"/>
                <a:ext cx="11242964" cy="5823857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ru-RU" dirty="0"/>
                  <a:t>Математически дерево строит разбиение пространства:</a:t>
                </a:r>
              </a:p>
              <a:p>
                <a:pPr>
                  <a:buNone/>
                </a:pPr>
                <a:endParaRPr lang="ru-RU" i="1" dirty="0"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br>
                  <a:rPr lang="ru-RU" dirty="0"/>
                </a:br>
                <a:endParaRPr lang="ru-RU" dirty="0"/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– </a:t>
                </a:r>
                <a:r>
                  <a:rPr lang="ru-RU" dirty="0"/>
                  <a:t>непересекающиеся регионы пространства признаков (области),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GB" dirty="0"/>
                  <a:t> — </a:t>
                </a:r>
                <a:r>
                  <a:rPr lang="ru-RU" dirty="0"/>
                  <a:t>количество листьев дерева,</a:t>
                </a:r>
              </a:p>
              <a:p>
                <a:pPr marL="0" indent="0">
                  <a:buNone/>
                </a:pPr>
                <a:r>
                  <a:rPr lang="ru-RU" dirty="0"/>
                  <a:t>для каждого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дерево предсказывает фиксированное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>
                  <a:buNone/>
                </a:pPr>
                <a:r>
                  <a:rPr lang="ru-RU" b="1" dirty="0"/>
                  <a:t>Иными словами:</a:t>
                </a:r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если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1270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i="1" dirty="0"/>
              </a:p>
              <a:p>
                <a:pPr marL="0" indent="0">
                  <a:buNone/>
                </a:pPr>
                <a:endParaRPr lang="ru-RU" dirty="0"/>
              </a:p>
              <a:p>
                <a:endParaRPr lang="ru-RU" dirty="0"/>
              </a:p>
              <a:p>
                <a:endParaRPr lang="en-RU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24C426DC-57D9-0E19-E040-D6A8050141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81742"/>
                <a:ext cx="11242964" cy="5823857"/>
              </a:xfrm>
              <a:blipFill>
                <a:blip r:embed="rId2"/>
                <a:stretch>
                  <a:fillRect l="-1129" t="-9804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1338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9105A-7682-84EA-DC62-89D699BBC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596CB-5EE9-A2AE-92E2-AFF3D91B1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8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Интуитивное объяснение</a:t>
            </a:r>
            <a:endParaRPr lang="en-RU" sz="48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B13AAD8-4C32-958B-7F6C-FBC0945B2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1742"/>
            <a:ext cx="11242964" cy="582385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b="1" dirty="0"/>
              <a:t>Решающее дерево = «если-то-иначе» правила</a:t>
            </a:r>
            <a:endParaRPr lang="ru-RU" dirty="0"/>
          </a:p>
          <a:p>
            <a:pPr>
              <a:buNone/>
            </a:pPr>
            <a:r>
              <a:rPr lang="ru-RU" dirty="0"/>
              <a:t>Например: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Если</a:t>
            </a:r>
            <a:r>
              <a:rPr lang="ru-RU" dirty="0"/>
              <a:t> возраст ≤ 30 </a:t>
            </a:r>
            <a:r>
              <a:rPr lang="ru-RU" b="1" dirty="0"/>
              <a:t>и</a:t>
            </a:r>
            <a:r>
              <a:rPr lang="ru-RU" dirty="0"/>
              <a:t> доход ≤ 50 </a:t>
            </a:r>
            <a:r>
              <a:rPr lang="ru-RU" dirty="0" err="1"/>
              <a:t>тыс</a:t>
            </a:r>
            <a:r>
              <a:rPr lang="ru-RU" dirty="0"/>
              <a:t> → «Не купит».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/>
              <a:t>Если</a:t>
            </a:r>
            <a:r>
              <a:rPr lang="ru-RU" dirty="0"/>
              <a:t> возраст &gt; 30 </a:t>
            </a:r>
            <a:r>
              <a:rPr lang="ru-RU" b="1" dirty="0"/>
              <a:t>и</a:t>
            </a:r>
            <a:r>
              <a:rPr lang="ru-RU" dirty="0"/>
              <a:t> доход &gt; 50 </a:t>
            </a:r>
            <a:r>
              <a:rPr lang="ru-RU" dirty="0" err="1"/>
              <a:t>тыс</a:t>
            </a:r>
            <a:r>
              <a:rPr lang="ru-RU" dirty="0"/>
              <a:t> → “Купит”.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ru-RU" dirty="0"/>
              <a:t>То есть дерево можно интерпретировать как </a:t>
            </a:r>
            <a:r>
              <a:rPr lang="ru-RU" b="1" dirty="0"/>
              <a:t>набор вложенных</a:t>
            </a:r>
            <a:r>
              <a:rPr lang="en-US" b="1" dirty="0"/>
              <a:t> </a:t>
            </a:r>
            <a:r>
              <a:rPr lang="ru-RU" b="1" dirty="0"/>
              <a:t>условий</a:t>
            </a:r>
            <a:r>
              <a:rPr lang="ru-RU" dirty="0"/>
              <a:t>, которые легко понять человеку.</a:t>
            </a:r>
            <a:endParaRPr lang="en-GB" dirty="0"/>
          </a:p>
          <a:p>
            <a:pPr marL="12700" indent="0">
              <a:buNone/>
            </a:pPr>
            <a:endParaRPr lang="ru-RU" dirty="0"/>
          </a:p>
          <a:p>
            <a:pPr marL="0" indent="0">
              <a:buNone/>
            </a:pPr>
            <a:endParaRPr lang="ru-RU" i="1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809812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A44F3-9EA9-7720-D3CC-F8F2CF7BB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50A6F-00DB-CA6B-C7E1-701FD0C23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11425"/>
            <a:ext cx="9144000" cy="1835150"/>
          </a:xfrm>
        </p:spPr>
        <p:txBody>
          <a:bodyPr>
            <a:normAutofit/>
          </a:bodyPr>
          <a:lstStyle/>
          <a:p>
            <a:r>
              <a:rPr lang="ru-RU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Построение дерева: ключевые концепции</a:t>
            </a:r>
            <a:endParaRPr lang="en-RU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372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CF321-AE90-F49E-D54C-3D200F118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52C9-D062-0290-F83E-2BB1AD20C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8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«Построение дерева»</a:t>
            </a:r>
            <a:endParaRPr lang="en-RU" sz="48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3079B1C-BE27-850D-C448-68F8B56BB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1742"/>
            <a:ext cx="11242964" cy="582385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dirty="0"/>
              <a:t>Построить решающее дерево — это значит:</a:t>
            </a:r>
          </a:p>
          <a:p>
            <a:pPr>
              <a:buFont typeface="Wingdings" pitchFamily="2" charset="2"/>
              <a:buChar char="ü"/>
            </a:pPr>
            <a:r>
              <a:rPr lang="ru-RU" dirty="0"/>
              <a:t>На каждом этапе (в каждом узле) выбрать, </a:t>
            </a:r>
            <a:r>
              <a:rPr lang="ru-RU" b="1" dirty="0"/>
              <a:t>по какому признаку</a:t>
            </a:r>
            <a:r>
              <a:rPr lang="ru-RU" dirty="0"/>
              <a:t> и </a:t>
            </a:r>
            <a:r>
              <a:rPr lang="ru-RU" b="1" dirty="0"/>
              <a:t>с каким порогом</a:t>
            </a:r>
            <a:r>
              <a:rPr lang="ru-RU" dirty="0"/>
              <a:t> делить данные.</a:t>
            </a:r>
          </a:p>
          <a:p>
            <a:pPr>
              <a:buFont typeface="Wingdings" pitchFamily="2" charset="2"/>
              <a:buChar char="ü"/>
            </a:pPr>
            <a:r>
              <a:rPr lang="ru-RU" dirty="0"/>
              <a:t>Стремиться к тому, чтобы получившиеся подмножества были </a:t>
            </a:r>
            <a:r>
              <a:rPr lang="ru-RU" b="1" dirty="0"/>
              <a:t>как можно «чище»</a:t>
            </a:r>
            <a:r>
              <a:rPr lang="ru-RU" dirty="0"/>
              <a:t> (то есть содержали в основном объекты одного класса).</a:t>
            </a:r>
          </a:p>
          <a:p>
            <a:pPr>
              <a:buFont typeface="Wingdings" pitchFamily="2" charset="2"/>
              <a:buChar char="ü"/>
            </a:pPr>
            <a:r>
              <a:rPr lang="ru-RU" dirty="0"/>
              <a:t>Повторять разбиение рекурсивно для каждой ветки.</a:t>
            </a:r>
          </a:p>
          <a:p>
            <a:pPr>
              <a:buNone/>
            </a:pPr>
            <a:r>
              <a:rPr lang="ru-RU" dirty="0"/>
              <a:t>Иначе говоря, мы строим дерево шаг за шагом:</a:t>
            </a:r>
          </a:p>
          <a:p>
            <a:pPr>
              <a:buNone/>
            </a:pPr>
            <a:r>
              <a:rPr lang="ru-RU" b="1" dirty="0"/>
              <a:t>Корень → Ветви → Листья</a:t>
            </a:r>
            <a:r>
              <a:rPr lang="ru-RU" dirty="0"/>
              <a:t>,</a:t>
            </a:r>
          </a:p>
          <a:p>
            <a:pPr marL="0" indent="0">
              <a:buNone/>
            </a:pPr>
            <a:r>
              <a:rPr lang="ru-RU" dirty="0"/>
              <a:t>где на каждом уровне дерево «разбивает» данные, чтобы упростить задачу предсказания.</a:t>
            </a:r>
          </a:p>
          <a:p>
            <a:pPr>
              <a:buNone/>
            </a:pPr>
            <a:endParaRPr lang="en-GB" dirty="0"/>
          </a:p>
          <a:p>
            <a:pPr marL="12700" indent="0">
              <a:buNone/>
            </a:pPr>
            <a:endParaRPr lang="ru-RU" dirty="0"/>
          </a:p>
          <a:p>
            <a:pPr marL="0" indent="0">
              <a:buNone/>
            </a:pPr>
            <a:endParaRPr lang="ru-RU" i="1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403883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93301-AC3C-1DA0-7147-FD303E842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C21DA-F936-89FA-4ED8-5FB9FC029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8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Ключевые этапы</a:t>
            </a:r>
            <a:endParaRPr lang="en-RU" sz="48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66794A-1494-3533-9BB7-C60E3EE8F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1742"/>
            <a:ext cx="11242964" cy="58238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/>
              <a:t>1. Выбор наилучшего признака и порога для разбиения</a:t>
            </a:r>
          </a:p>
          <a:p>
            <a:pPr marL="0" indent="0">
              <a:buNone/>
            </a:pPr>
            <a:r>
              <a:rPr lang="ru-RU" dirty="0"/>
              <a:t>2. Критерии оценки разбиения</a:t>
            </a:r>
          </a:p>
          <a:p>
            <a:pPr marL="0" indent="0">
              <a:buNone/>
            </a:pPr>
            <a:r>
              <a:rPr lang="ru-RU" dirty="0"/>
              <a:t>3. Рекурсивное разбиение</a:t>
            </a:r>
          </a:p>
          <a:p>
            <a:pPr marL="0" indent="0">
              <a:buNone/>
            </a:pPr>
            <a:r>
              <a:rPr lang="ru-RU" dirty="0"/>
              <a:t>4. Критерии остановки роста дерева</a:t>
            </a:r>
          </a:p>
        </p:txBody>
      </p:sp>
    </p:spTree>
    <p:extLst>
      <p:ext uri="{BB962C8B-B14F-4D97-AF65-F5344CB8AC3E}">
        <p14:creationId xmlns:p14="http://schemas.microsoft.com/office/powerpoint/2010/main" val="432366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88D6-5B5F-B6C7-F84A-0C4D97EA0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0A161-38E0-DAE5-00A9-CCC53F5E5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8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Ключевые этапы</a:t>
            </a:r>
            <a:endParaRPr lang="en-RU" sz="48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62DCAA8-5CF1-791F-B31D-F215012A4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1742"/>
            <a:ext cx="11242964" cy="58238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b="1" dirty="0"/>
              <a:t>1. Выбор наилучшего признака и порога для разбиения</a:t>
            </a:r>
          </a:p>
          <a:p>
            <a:pPr marL="0" indent="0">
              <a:buNone/>
            </a:pPr>
            <a:r>
              <a:rPr lang="ru-RU" dirty="0"/>
              <a:t>На каждом этапе:</a:t>
            </a:r>
          </a:p>
          <a:p>
            <a:pPr>
              <a:buFont typeface="Wingdings" pitchFamily="2" charset="2"/>
              <a:buChar char="ü"/>
            </a:pPr>
            <a:r>
              <a:rPr lang="ru-RU" dirty="0"/>
              <a:t>Перебираются все признаки и возможные пороги.</a:t>
            </a:r>
          </a:p>
          <a:p>
            <a:pPr>
              <a:buFont typeface="Wingdings" pitchFamily="2" charset="2"/>
              <a:buChar char="ü"/>
            </a:pPr>
            <a:r>
              <a:rPr lang="ru-RU" dirty="0"/>
              <a:t>Для каждого варианта вычисляется, насколько хорошо он «разделяет» классы (например, индекс Джини, энтропия, или ошибка </a:t>
            </a:r>
            <a:r>
              <a:rPr lang="en-GB" dirty="0"/>
              <a:t>MSE).</a:t>
            </a:r>
          </a:p>
          <a:p>
            <a:pPr marL="0" indent="0">
              <a:buNone/>
            </a:pPr>
            <a:r>
              <a:rPr lang="ru-RU" i="1" dirty="0"/>
              <a:t>Задача: выбрать такой признак и порог, которые минимизируют «нечистоту» потомков.</a:t>
            </a:r>
          </a:p>
          <a:p>
            <a:pPr marL="0" indent="0">
              <a:buNone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2. Критерии оценки разбиения</a:t>
            </a:r>
          </a:p>
          <a:p>
            <a:pPr marL="0" indent="0">
              <a:buNone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3. Рекурсивное разбиение</a:t>
            </a:r>
          </a:p>
          <a:p>
            <a:pPr marL="0" indent="0">
              <a:buNone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4. Критерии остановки роста дерева</a:t>
            </a:r>
          </a:p>
        </p:txBody>
      </p:sp>
    </p:spTree>
    <p:extLst>
      <p:ext uri="{BB962C8B-B14F-4D97-AF65-F5344CB8AC3E}">
        <p14:creationId xmlns:p14="http://schemas.microsoft.com/office/powerpoint/2010/main" val="4200459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DDCFA-71CE-43C5-F4B6-67C98F28F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BF067-3B4A-4CC9-DA4F-7A3394F2F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8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Ключевые этапы</a:t>
            </a:r>
            <a:endParaRPr lang="en-RU" sz="48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3DF3B2F-2647-5811-5041-06152A545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1742"/>
            <a:ext cx="11242964" cy="58238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1. Выбор наилучшего признака и порога для разбиения</a:t>
            </a:r>
          </a:p>
          <a:p>
            <a:pPr marL="0" indent="0">
              <a:buNone/>
            </a:pPr>
            <a:r>
              <a:rPr lang="ru-RU" b="1" dirty="0"/>
              <a:t>2. Критерии оценки разбиения</a:t>
            </a:r>
          </a:p>
          <a:p>
            <a:pPr>
              <a:buFont typeface="Wingdings" pitchFamily="2" charset="2"/>
              <a:buChar char="ü"/>
            </a:pPr>
            <a:r>
              <a:rPr lang="ru-RU" b="1" dirty="0"/>
              <a:t>Для классификации</a:t>
            </a:r>
            <a:r>
              <a:rPr lang="ru-RU" dirty="0"/>
              <a:t>: минимизируем Джини, энтропию или ошибку классификации.</a:t>
            </a:r>
          </a:p>
          <a:p>
            <a:pPr>
              <a:buFont typeface="Wingdings" pitchFamily="2" charset="2"/>
              <a:buChar char="ü"/>
            </a:pPr>
            <a:r>
              <a:rPr lang="ru-RU" b="1" dirty="0"/>
              <a:t>Для регрессии</a:t>
            </a:r>
            <a:r>
              <a:rPr lang="ru-RU" dirty="0"/>
              <a:t>: минимизируем среднюю квадратичную ошибку (</a:t>
            </a:r>
            <a:r>
              <a:rPr lang="en-GB" dirty="0"/>
              <a:t>MSE) </a:t>
            </a:r>
            <a:r>
              <a:rPr lang="ru-RU" dirty="0"/>
              <a:t>в подмножествах.</a:t>
            </a:r>
          </a:p>
          <a:p>
            <a:pPr>
              <a:buNone/>
            </a:pPr>
            <a:r>
              <a:rPr lang="ru-RU" b="1" dirty="0"/>
              <a:t>На каждом шаге:</a:t>
            </a:r>
          </a:p>
          <a:p>
            <a:pPr marL="0" indent="0">
              <a:buNone/>
            </a:pPr>
            <a:r>
              <a:rPr lang="ru-RU" dirty="0"/>
              <a:t>Качество разбиения = средневзвешенная нечистота потомков</a:t>
            </a:r>
          </a:p>
          <a:p>
            <a:pPr marL="0" indent="0">
              <a:buNone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3. Рекурсивное разбиение</a:t>
            </a:r>
          </a:p>
          <a:p>
            <a:pPr marL="0" indent="0">
              <a:buNone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4. Критерии остановки роста дерева</a:t>
            </a:r>
          </a:p>
        </p:txBody>
      </p:sp>
    </p:spTree>
    <p:extLst>
      <p:ext uri="{BB962C8B-B14F-4D97-AF65-F5344CB8AC3E}">
        <p14:creationId xmlns:p14="http://schemas.microsoft.com/office/powerpoint/2010/main" val="743024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17A64-312A-AA86-2B0E-01A208EC4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5DFE2-8C48-41E1-755F-2A942D896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8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Ключевые этапы</a:t>
            </a:r>
            <a:endParaRPr lang="en-RU" sz="48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85CD7AD-0DE1-70B0-67FC-16E1A05E4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1742"/>
            <a:ext cx="11242964" cy="58238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1. Выбор наилучшего признака и порога для разбиения</a:t>
            </a:r>
          </a:p>
          <a:p>
            <a:pPr marL="0" indent="0">
              <a:buNone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2. Критерии оценки разбиения</a:t>
            </a:r>
          </a:p>
          <a:p>
            <a:pPr marL="0" indent="0">
              <a:buNone/>
            </a:pPr>
            <a:r>
              <a:rPr lang="ru-RU" b="1" dirty="0"/>
              <a:t>3. Рекурсивное разбиение</a:t>
            </a:r>
          </a:p>
          <a:p>
            <a:pPr>
              <a:buNone/>
            </a:pPr>
            <a:r>
              <a:rPr lang="ru-RU" dirty="0"/>
              <a:t>После выбора признака и порога:</a:t>
            </a:r>
          </a:p>
          <a:p>
            <a:pPr>
              <a:buFont typeface="Wingdings" pitchFamily="2" charset="2"/>
              <a:buChar char="ü"/>
            </a:pPr>
            <a:r>
              <a:rPr lang="ru-RU" dirty="0"/>
              <a:t>Делим данные на две части: те, что удовлетворяют условию, и те, что нет.</a:t>
            </a:r>
          </a:p>
          <a:p>
            <a:pPr>
              <a:buFont typeface="Wingdings" pitchFamily="2" charset="2"/>
              <a:buChar char="ü"/>
            </a:pPr>
            <a:r>
              <a:rPr lang="ru-RU" dirty="0"/>
              <a:t>Для каждой части повторяем процесс построения дерева </a:t>
            </a:r>
            <a:r>
              <a:rPr lang="ru-RU" b="1" dirty="0"/>
              <a:t>рекурсивно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4. Критерии остановки роста дерева</a:t>
            </a:r>
          </a:p>
        </p:txBody>
      </p:sp>
    </p:spTree>
    <p:extLst>
      <p:ext uri="{BB962C8B-B14F-4D97-AF65-F5344CB8AC3E}">
        <p14:creationId xmlns:p14="http://schemas.microsoft.com/office/powerpoint/2010/main" val="468397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4808C-6CD5-DE6C-0F22-486BA33C7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38E74-6B0C-9141-8E26-1C0EFC53B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8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Ключевые этапы</a:t>
            </a:r>
            <a:endParaRPr lang="en-RU" sz="48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C3F6813-DF98-10DF-7B23-CF96D0975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1742"/>
            <a:ext cx="11242964" cy="58238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1. Выбор наилучшего признака и порога для разбиения</a:t>
            </a:r>
          </a:p>
          <a:p>
            <a:pPr marL="0" indent="0">
              <a:buNone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2. Критерии оценки разбиения</a:t>
            </a:r>
          </a:p>
          <a:p>
            <a:pPr marL="0" indent="0">
              <a:buNone/>
            </a:pP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3. Рекурсивное разбиение</a:t>
            </a:r>
          </a:p>
          <a:p>
            <a:pPr marL="0" indent="0">
              <a:buNone/>
            </a:pPr>
            <a:r>
              <a:rPr lang="ru-RU" b="1" dirty="0"/>
              <a:t>4. Критерии остановки роста дерева</a:t>
            </a:r>
          </a:p>
          <a:p>
            <a:pPr>
              <a:buNone/>
            </a:pPr>
            <a:r>
              <a:rPr lang="ru-RU" dirty="0"/>
              <a:t>Дерево не может расти бесконечно. Остановка происходит, если:</a:t>
            </a:r>
          </a:p>
          <a:p>
            <a:pPr>
              <a:buFont typeface="Wingdings" pitchFamily="2" charset="2"/>
              <a:buChar char="ü"/>
            </a:pPr>
            <a:r>
              <a:rPr lang="ru-RU" dirty="0"/>
              <a:t>Все объекты в узле принадлежат одному классу.</a:t>
            </a:r>
          </a:p>
          <a:p>
            <a:pPr>
              <a:buFont typeface="Wingdings" pitchFamily="2" charset="2"/>
              <a:buChar char="ü"/>
            </a:pPr>
            <a:r>
              <a:rPr lang="ru-RU" dirty="0"/>
              <a:t>Количество объектов в узле стало меньше заданного минимума.</a:t>
            </a:r>
          </a:p>
          <a:p>
            <a:pPr>
              <a:buFont typeface="Wingdings" pitchFamily="2" charset="2"/>
              <a:buChar char="ü"/>
            </a:pPr>
            <a:r>
              <a:rPr lang="ru-RU" dirty="0"/>
              <a:t>Глубина дерева превысила максимальную.</a:t>
            </a:r>
          </a:p>
          <a:p>
            <a:pPr>
              <a:buFont typeface="Wingdings" pitchFamily="2" charset="2"/>
              <a:buChar char="ü"/>
            </a:pPr>
            <a:r>
              <a:rPr lang="ru-RU" dirty="0"/>
              <a:t>Дальнейшее разбиение не улучшает качество достаточно сильно.</a:t>
            </a:r>
          </a:p>
          <a:p>
            <a:pPr marL="0" indent="0">
              <a:buNone/>
            </a:pPr>
            <a:r>
              <a:rPr lang="ru-RU" i="1" dirty="0"/>
              <a:t>(Настраивается через параметры типа </a:t>
            </a:r>
            <a:r>
              <a:rPr lang="en-GB" i="1" dirty="0" err="1"/>
              <a:t>max_depth</a:t>
            </a:r>
            <a:r>
              <a:rPr lang="en-GB" i="1" dirty="0"/>
              <a:t>, </a:t>
            </a:r>
            <a:r>
              <a:rPr lang="en-GB" i="1" dirty="0" err="1"/>
              <a:t>min_samples_split</a:t>
            </a:r>
            <a:r>
              <a:rPr lang="en-GB" i="1" dirty="0"/>
              <a:t>, </a:t>
            </a:r>
            <a:r>
              <a:rPr lang="en-GB" i="1" dirty="0" err="1"/>
              <a:t>min_impurity_decrease</a:t>
            </a:r>
            <a:r>
              <a:rPr lang="en-GB" i="1" dirty="0"/>
              <a:t> </a:t>
            </a:r>
            <a:r>
              <a:rPr lang="ru-RU" i="1" dirty="0"/>
              <a:t>и др.)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5221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469FD-1491-3FDC-6D17-0E3A0BE5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DFFA8-1AC1-94CB-E066-3EC32FD00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11425"/>
            <a:ext cx="9144000" cy="1835150"/>
          </a:xfrm>
        </p:spPr>
        <p:txBody>
          <a:bodyPr>
            <a:normAutofit/>
          </a:bodyPr>
          <a:lstStyle/>
          <a:p>
            <a:r>
              <a:rPr lang="ru-RU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Математика выбора разбиения</a:t>
            </a:r>
            <a:endParaRPr lang="en-RU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7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5C9B2-3A60-0E9A-BDE4-7783CF2A8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6CF3F-F487-B2E2-120C-7A3DDF846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8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Шаги построения дерева</a:t>
            </a:r>
            <a:endParaRPr lang="en-RU" sz="48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C4D8AD13-FF49-CA42-34B6-659B5A21AC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81742"/>
                <a:ext cx="11242964" cy="5823857"/>
              </a:xfrm>
            </p:spPr>
            <p:txBody>
              <a:bodyPr>
                <a:noAutofit/>
              </a:bodyPr>
              <a:lstStyle/>
              <a:p>
                <a:pPr>
                  <a:buFont typeface="Wingdings" pitchFamily="2" charset="2"/>
                  <a:buChar char="ü"/>
                </a:pPr>
                <a:r>
                  <a:rPr lang="ru-RU" dirty="0"/>
                  <a:t>Выбрать, </a:t>
                </a:r>
                <a:r>
                  <a:rPr lang="ru-RU" b="1" dirty="0"/>
                  <a:t>по какому признаку</a:t>
                </a:r>
                <a:r>
                  <a:rPr lang="ru-RU" dirty="0"/>
                  <a:t> </a:t>
                </a:r>
                <a:r>
                  <a:rPr lang="en-GB" dirty="0"/>
                  <a:t>f </a:t>
                </a:r>
                <a:r>
                  <a:rPr lang="ru-RU" dirty="0"/>
                  <a:t>и </a:t>
                </a:r>
                <a:r>
                  <a:rPr lang="ru-RU" b="1" dirty="0"/>
                  <a:t>с каким порогом</a:t>
                </a:r>
                <a:r>
                  <a:rPr lang="ru-RU" dirty="0"/>
                  <a:t> </a:t>
                </a:r>
                <a:r>
                  <a:rPr lang="en-GB" dirty="0"/>
                  <a:t>t </a:t>
                </a:r>
                <a:r>
                  <a:rPr lang="ru-RU" dirty="0"/>
                  <a:t>нужно разбить выборку </a:t>
                </a:r>
                <a:r>
                  <a:rPr lang="en-GB" dirty="0"/>
                  <a:t>D,</a:t>
                </a:r>
              </a:p>
              <a:p>
                <a:pPr>
                  <a:buFont typeface="Wingdings" pitchFamily="2" charset="2"/>
                  <a:buChar char="ü"/>
                </a:pPr>
                <a:r>
                  <a:rPr lang="ru-RU" dirty="0"/>
                  <a:t>Чтобы после разбиения получились две части, которые как можно лучше «чисто» разделяют целевые переменные (классы или значения).</a:t>
                </a:r>
              </a:p>
              <a:p>
                <a:pPr marL="0" indent="0">
                  <a:buNone/>
                </a:pPr>
                <a:r>
                  <a:rPr lang="ru-RU" dirty="0"/>
                  <a:t>Формально задача: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𝐼𝑚𝑝𝑢𝑡𝑖𝑟𝑦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𝑠𝑝𝑙𝑖𝑡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ru-RU" i="1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𝑠𝑝𝑙𝑖𝑡</m:t>
                        </m:r>
                      </m:sub>
                    </m:sSub>
                  </m:oMath>
                </a14:m>
                <a:r>
                  <a:rPr lang="en-GB" dirty="0"/>
                  <a:t> – </a:t>
                </a:r>
                <a:r>
                  <a:rPr lang="ru-RU" dirty="0"/>
                  <a:t>разбиение выборки на две части в соответствии с порогом </a:t>
                </a:r>
                <a:r>
                  <a:rPr lang="en-GB" dirty="0"/>
                  <a:t>t </a:t>
                </a:r>
                <a:r>
                  <a:rPr lang="ru-RU" dirty="0"/>
                  <a:t>признака </a:t>
                </a:r>
                <a:r>
                  <a:rPr lang="en-GB" dirty="0"/>
                  <a:t>f,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𝐼𝑚𝑝𝑢𝑟𝑖𝑡𝑦</m:t>
                    </m:r>
                  </m:oMath>
                </a14:m>
                <a:r>
                  <a:rPr lang="en-GB" dirty="0"/>
                  <a:t> – </a:t>
                </a:r>
                <a:r>
                  <a:rPr lang="ru-RU" dirty="0"/>
                  <a:t>функция «нечистоты», которая измеряет, насколько в одной части выборки смешаны разные классы или насколько велика разбросанность значений.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C4D8AD13-FF49-CA42-34B6-659B5A21AC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81742"/>
                <a:ext cx="11242964" cy="5823857"/>
              </a:xfrm>
              <a:blipFill>
                <a:blip r:embed="rId2"/>
                <a:stretch>
                  <a:fillRect l="-1129" t="-174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2298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7DA9B-0C2C-6E66-574A-EB0C5A63F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4177C-397F-9A71-9341-0989D2921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8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Оценка качества разбиения</a:t>
            </a:r>
            <a:endParaRPr lang="en-RU" sz="48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ABC37CF1-7AB7-1E4C-7988-E1652BF47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7577" y="881742"/>
                <a:ext cx="11793587" cy="5823857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ru-RU" b="1" dirty="0"/>
                  <a:t>Основная идея:</a:t>
                </a:r>
                <a:endParaRPr lang="ru-RU" dirty="0"/>
              </a:p>
              <a:p>
                <a:pPr marL="9525" indent="0">
                  <a:buNone/>
                </a:pPr>
                <a:r>
                  <a:rPr lang="ru-RU" dirty="0"/>
                  <a:t>Мы хотим минимизировать средневзвешенную нечистоту </a:t>
                </a:r>
                <a:r>
                  <a:rPr lang="ru-RU" b="1" dirty="0"/>
                  <a:t>после</a:t>
                </a:r>
                <a:r>
                  <a:rPr lang="ru-RU" dirty="0"/>
                  <a:t> разбиения.</a:t>
                </a:r>
              </a:p>
              <a:p>
                <a:pPr>
                  <a:buNone/>
                </a:pPr>
                <a:r>
                  <a:rPr lang="ru-RU" b="1" dirty="0"/>
                  <a:t>Разбиение:</a:t>
                </a:r>
              </a:p>
              <a:p>
                <a:pPr>
                  <a:buFont typeface="Wingdings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𝒍𝒆𝒇𝒕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𝑫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endParaRPr lang="en-US" b="1" dirty="0"/>
              </a:p>
              <a:p>
                <a:pPr>
                  <a:buFont typeface="Wingdings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𝒓𝒊𝒈𝒉𝒕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}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𝑫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𝒇</m:t>
                            </m:r>
                          </m:sub>
                        </m:sSub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endParaRPr lang="ru-RU" b="1" dirty="0"/>
              </a:p>
              <a:p>
                <a:pPr>
                  <a:buNone/>
                </a:pPr>
                <a:r>
                  <a:rPr lang="ru-RU" dirty="0"/>
                  <a:t>Тогда средневзвешенная нечистота:</a:t>
                </a:r>
                <a:endParaRPr lang="en-US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𝐼𝑚𝑝𝑢𝑟𝑖𝑡𝑦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𝑠𝑝𝑙𝑖𝑡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𝑙𝑒𝑓𝑡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𝐼𝑚𝑝𝑢𝑟𝑖𝑡𝑦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𝑙𝑒𝑓𝑡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𝑟𝑖𝑔h𝑡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⌊"/>
                              <m:endChr m:val="⌋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𝐼𝑚𝑝𝑢𝑟𝑖𝑡𝑦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𝑟𝑖𝑔h𝑡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ABC37CF1-7AB7-1E4C-7988-E1652BF47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7577" y="881742"/>
                <a:ext cx="11793587" cy="5823857"/>
              </a:xfrm>
              <a:blipFill>
                <a:blip r:embed="rId2"/>
                <a:stretch>
                  <a:fillRect l="-1075" t="-1743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6934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52989-39F8-F548-210A-DCF83FC1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DF51B-3EB5-97A5-0EEF-331C602FD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Функции нечистоты</a:t>
            </a:r>
            <a:r>
              <a:rPr lang="en-US" sz="40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 (</a:t>
            </a:r>
            <a:r>
              <a:rPr lang="ru-RU" sz="40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классификация</a:t>
            </a:r>
            <a:r>
              <a:rPr lang="en-US" sz="40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)</a:t>
            </a:r>
            <a:endParaRPr lang="en-RU" sz="40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1680D302-CC7F-1C89-B930-2A679DAB97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81742"/>
                <a:ext cx="11242964" cy="5823857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ru-RU" b="1" dirty="0"/>
                  <a:t>Критерий Джини</a:t>
                </a:r>
              </a:p>
              <a:p>
                <a:pPr marL="12700" indent="0">
                  <a:buNone/>
                </a:pPr>
                <a:r>
                  <a:rPr lang="ru-RU" dirty="0"/>
                  <a:t>Индекс Джини измеряет вероятность того, что случайно выбранный элемент будет неправильно классифицирован, если метка объекта определяется случайно по распределению классов в узле.</a:t>
                </a:r>
              </a:p>
              <a:p>
                <a:pPr>
                  <a:buNone/>
                </a:pPr>
                <a:r>
                  <a:rPr lang="ru-RU" b="1" dirty="0"/>
                  <a:t>Формула:</a:t>
                </a:r>
                <a:br>
                  <a:rPr lang="ru-RU" dirty="0"/>
                </a:br>
                <a:endParaRPr lang="ru-RU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𝐺𝑖𝑛𝑖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ru-RU" dirty="0"/>
              </a:p>
              <a:p>
                <a:pPr>
                  <a:buNone/>
                </a:pPr>
                <a:r>
                  <a:rPr lang="ru-RU" dirty="0"/>
                  <a:t>где: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dirty="0"/>
                  <a:t> – </a:t>
                </a:r>
                <a:r>
                  <a:rPr lang="ru-RU" dirty="0"/>
                  <a:t>доля объектов класса </a:t>
                </a:r>
                <a:r>
                  <a:rPr lang="en-GB" dirty="0"/>
                  <a:t>k </a:t>
                </a:r>
                <a:r>
                  <a:rPr lang="ru-RU" dirty="0"/>
                  <a:t>в узле,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/>
                  <a:t>– </a:t>
                </a:r>
                <a:r>
                  <a:rPr lang="ru-RU" dirty="0"/>
                  <a:t>количество классов.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1680D302-CC7F-1C89-B930-2A679DAB9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81742"/>
                <a:ext cx="11242964" cy="5823857"/>
              </a:xfrm>
              <a:blipFill>
                <a:blip r:embed="rId2"/>
                <a:stretch>
                  <a:fillRect l="-1129" t="-1743" b="-654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5581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3D345-90EC-F78D-58AE-60613220B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39986-B7FC-A315-64F7-468BC8254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Функции нечистоты</a:t>
            </a:r>
            <a:r>
              <a:rPr lang="en-US" sz="40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 (</a:t>
            </a:r>
            <a:r>
              <a:rPr lang="ru-RU" sz="40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классификация</a:t>
            </a:r>
            <a:r>
              <a:rPr lang="en-US" sz="40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)</a:t>
            </a:r>
            <a:endParaRPr lang="en-RU" sz="40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78A3B5F9-21A5-868B-96F0-85A7979982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81742"/>
                <a:ext cx="11242964" cy="5823857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ru-RU" b="1" dirty="0"/>
                  <a:t>Энтропия Шеннона</a:t>
                </a:r>
                <a:endParaRPr lang="ru-RU" dirty="0"/>
              </a:p>
              <a:p>
                <a:pPr>
                  <a:buNone/>
                </a:pPr>
                <a:r>
                  <a:rPr lang="ru-RU" dirty="0"/>
                  <a:t>Энтропия измеряет уровень неопределенности: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ru-RU" dirty="0"/>
              </a:p>
              <a:p>
                <a:pPr>
                  <a:buNone/>
                </a:pPr>
                <a:r>
                  <a:rPr lang="ru-RU" b="1" dirty="0"/>
                  <a:t>Интерпретация: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ru-RU" dirty="0"/>
                  <a:t>Минимальна (0), если все объекты одного класса.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ru-RU" dirty="0"/>
                  <a:t>Максимальна, когда классы равновероятны.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78A3B5F9-21A5-868B-96F0-85A7979982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81742"/>
                <a:ext cx="11242964" cy="5823857"/>
              </a:xfrm>
              <a:blipFill>
                <a:blip r:embed="rId2"/>
                <a:stretch>
                  <a:fillRect l="-1129" t="-9150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198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092C6-3EBA-A9B1-E615-51D8AE1AF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4DF90-ADD5-4204-6E43-D2AE878EB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Функции нечистоты</a:t>
            </a:r>
            <a:r>
              <a:rPr lang="en-US" sz="40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 (</a:t>
            </a:r>
            <a:r>
              <a:rPr lang="ru-RU" sz="40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регрессия</a:t>
            </a:r>
            <a:r>
              <a:rPr lang="en-US" sz="40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)</a:t>
            </a:r>
            <a:endParaRPr lang="en-RU" sz="40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BA610E36-19A8-31BC-3C2E-2BD5C8AA19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81742"/>
                <a:ext cx="11242964" cy="5823857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ru-RU" b="1" dirty="0"/>
                  <a:t>Среднеквадратичная ошибка (</a:t>
                </a:r>
                <a:r>
                  <a:rPr lang="en-GB" b="1" dirty="0"/>
                  <a:t>MSE)</a:t>
                </a:r>
                <a:endParaRPr lang="en-GB" dirty="0"/>
              </a:p>
              <a:p>
                <a:pPr>
                  <a:buNone/>
                </a:pPr>
                <a:r>
                  <a:rPr lang="ru-RU" dirty="0"/>
                  <a:t>Измеряет разброс целевых значений вокруг их среднего: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br>
                  <a:rPr lang="ru-RU" dirty="0"/>
                </a:br>
                <a:endParaRPr lang="en-GB" dirty="0"/>
              </a:p>
              <a:p>
                <a:pPr>
                  <a:buNone/>
                </a:pPr>
                <a:r>
                  <a:rPr lang="ru-RU" dirty="0"/>
                  <a:t>где:</a:t>
                </a:r>
                <a:endParaRPr lang="en-US" dirty="0"/>
              </a:p>
              <a:p>
                <a:pPr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–</a:t>
                </a:r>
                <a:r>
                  <a:rPr lang="en-GB" dirty="0"/>
                  <a:t> </a:t>
                </a:r>
                <a:r>
                  <a:rPr lang="ru-RU" dirty="0"/>
                  <a:t>среднее значение целевой переменной в узле.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BA610E36-19A8-31BC-3C2E-2BD5C8AA19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81742"/>
                <a:ext cx="11242964" cy="5823857"/>
              </a:xfrm>
              <a:blipFill>
                <a:blip r:embed="rId2"/>
                <a:stretch>
                  <a:fillRect l="-1129" t="-1176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1257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7B7F2-10F8-474F-9C24-3F4DBA5E9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38A6C-01D0-AE53-1D67-943C8CBDA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0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Функции нечистоты</a:t>
            </a:r>
            <a:r>
              <a:rPr lang="en-US" sz="40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 (</a:t>
            </a:r>
            <a:r>
              <a:rPr lang="ru-RU" sz="40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регрессия</a:t>
            </a:r>
            <a:r>
              <a:rPr lang="en-US" sz="40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)</a:t>
            </a:r>
            <a:endParaRPr lang="en-RU" sz="40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69030591-0094-CF5D-28AF-F934FA87D9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81742"/>
                <a:ext cx="11242964" cy="5823857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ru-RU" b="1" dirty="0"/>
                  <a:t>Средняя абсолютная ошибка (</a:t>
                </a:r>
                <a:r>
                  <a:rPr lang="en-GB" b="1" dirty="0"/>
                  <a:t>MAE)</a:t>
                </a:r>
                <a:endParaRPr lang="en-GB" dirty="0"/>
              </a:p>
              <a:p>
                <a:pPr>
                  <a:buNone/>
                </a:pPr>
                <a:endParaRPr lang="ru-RU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br>
                  <a:rPr lang="ru-RU" dirty="0"/>
                </a:br>
                <a:endParaRPr lang="en-GB" dirty="0"/>
              </a:p>
              <a:p>
                <a:pPr>
                  <a:buNone/>
                </a:pPr>
                <a:r>
                  <a:rPr lang="ru-RU" dirty="0"/>
                  <a:t>где:</a:t>
                </a:r>
                <a:endParaRPr lang="en-US" dirty="0"/>
              </a:p>
              <a:p>
                <a:pPr>
                  <a:buNone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–</a:t>
                </a:r>
                <a:r>
                  <a:rPr lang="en-GB" dirty="0"/>
                  <a:t> </a:t>
                </a:r>
                <a:r>
                  <a:rPr lang="ru-RU" dirty="0"/>
                  <a:t>среднее значение целевой переменной в узле.</a:t>
                </a:r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69030591-0094-CF5D-28AF-F934FA87D9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81742"/>
                <a:ext cx="11242964" cy="5823857"/>
              </a:xfrm>
              <a:blipFill>
                <a:blip r:embed="rId2"/>
                <a:stretch>
                  <a:fillRect l="-1129" t="-11765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5550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32D7E-863E-C20A-06F4-7B7DB0CBC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5FC8D-5BF9-D0F6-04F2-CA95EAD73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8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Выбор признаков и порогов</a:t>
            </a:r>
            <a:endParaRPr lang="en-RU" sz="48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7F362363-4996-4AD0-80BA-45BC889869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881742"/>
                <a:ext cx="11242964" cy="5823857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ru-RU" dirty="0"/>
                  <a:t>В классических деревьях (например, </a:t>
                </a:r>
                <a:r>
                  <a:rPr lang="en-GB" dirty="0"/>
                  <a:t>CART) </a:t>
                </a:r>
                <a:r>
                  <a:rPr lang="ru-RU" dirty="0"/>
                  <a:t>алгоритм действует так:</a:t>
                </a:r>
              </a:p>
              <a:p>
                <a:pPr marL="0" indent="0">
                  <a:buNone/>
                </a:pPr>
                <a:r>
                  <a:rPr lang="en-US" dirty="0"/>
                  <a:t>1. </a:t>
                </a:r>
                <a:r>
                  <a:rPr lang="ru-RU" dirty="0"/>
                  <a:t>Для каждого признака </a:t>
                </a:r>
                <a:r>
                  <a:rPr lang="en-GB" dirty="0"/>
                  <a:t>f:</a:t>
                </a:r>
              </a:p>
              <a:p>
                <a:pPr>
                  <a:buFont typeface="Wingdings" pitchFamily="2" charset="2"/>
                  <a:buChar char="ü"/>
                </a:pPr>
                <a:r>
                  <a:rPr lang="ru-RU" dirty="0"/>
                  <a:t>Отсортировать значения признака.</a:t>
                </a:r>
              </a:p>
              <a:p>
                <a:pPr>
                  <a:buFont typeface="Wingdings" pitchFamily="2" charset="2"/>
                  <a:buChar char="ü"/>
                </a:pPr>
                <a:r>
                  <a:rPr lang="ru-RU" dirty="0"/>
                  <a:t>Рассмотреть </a:t>
                </a:r>
                <a:r>
                  <a:rPr lang="ru-RU" b="1" dirty="0"/>
                  <a:t>все возможные пороги</a:t>
                </a:r>
                <a:r>
                  <a:rPr lang="ru-RU" dirty="0"/>
                  <a:t> между различными значениями:</a:t>
                </a:r>
                <a:endParaRPr lang="en-US" dirty="0"/>
              </a:p>
              <a:p>
                <a:pPr>
                  <a:buFont typeface="Wingdings" pitchFamily="2" charset="2"/>
                  <a:buChar char="ü"/>
                </a:pPr>
                <a:r>
                  <a:rPr lang="ru-RU" i="1" dirty="0"/>
                  <a:t>Обычно берется среднее между двумя соседними разными значениями.</a:t>
                </a:r>
              </a:p>
              <a:p>
                <a:pPr marL="0" indent="0">
                  <a:buNone/>
                </a:pPr>
                <a:r>
                  <a:rPr lang="en-US" dirty="0"/>
                  <a:t>2. </a:t>
                </a:r>
                <a:r>
                  <a:rPr lang="ru-RU" dirty="0"/>
                  <a:t>Для каждого порога </a:t>
                </a:r>
                <a:r>
                  <a:rPr lang="en-GB" dirty="0"/>
                  <a:t>t:</a:t>
                </a:r>
              </a:p>
              <a:p>
                <a:pPr>
                  <a:buFont typeface="Wingdings" pitchFamily="2" charset="2"/>
                  <a:buChar char="ü"/>
                </a:pPr>
                <a:r>
                  <a:rPr lang="ru-RU" dirty="0"/>
                  <a:t>Разбить выборку на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𝑙𝑒𝑓𝑡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𝑟𝑖𝑔h𝑡</m:t>
                        </m:r>
                      </m:sub>
                    </m:sSub>
                  </m:oMath>
                </a14:m>
                <a:r>
                  <a:rPr lang="en-GB" dirty="0"/>
                  <a:t>.</a:t>
                </a:r>
              </a:p>
              <a:p>
                <a:pPr>
                  <a:buFont typeface="Wingdings" pitchFamily="2" charset="2"/>
                  <a:buChar char="ü"/>
                </a:pPr>
                <a:r>
                  <a:rPr lang="ru-RU" dirty="0"/>
                  <a:t>Посчитать средневзвешенную нечистоту после разбиения.</a:t>
                </a:r>
              </a:p>
              <a:p>
                <a:pPr marL="0" indent="0">
                  <a:buNone/>
                </a:pPr>
                <a:r>
                  <a:rPr lang="en-US" dirty="0"/>
                  <a:t>3. </a:t>
                </a:r>
                <a:r>
                  <a:rPr lang="ru-RU" dirty="0"/>
                  <a:t>Выбрать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ru-RU" dirty="0"/>
                  <a:t> </a:t>
                </a:r>
                <a:r>
                  <a:rPr lang="en-GB" dirty="0"/>
                  <a:t> </a:t>
                </a:r>
                <a:r>
                  <a:rPr lang="ru-RU" dirty="0"/>
                  <a:t>с минимальной нечистотой.</a:t>
                </a:r>
              </a:p>
              <a:p>
                <a:pPr marL="0" indent="0">
                  <a:buNone/>
                </a:pPr>
                <a:r>
                  <a:rPr lang="ru-RU" b="1" dirty="0"/>
                  <a:t>Итог:</a:t>
                </a:r>
                <a:r>
                  <a:rPr lang="ru-RU" dirty="0"/>
                  <a:t> дерево жадно выбирает локально лучшее разбиение на каждом шаге.</a:t>
                </a:r>
              </a:p>
              <a:p>
                <a:pPr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7F362363-4996-4AD0-80BA-45BC889869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81742"/>
                <a:ext cx="11242964" cy="5823857"/>
              </a:xfrm>
              <a:blipFill>
                <a:blip r:embed="rId2"/>
                <a:stretch>
                  <a:fillRect l="-1129" t="-1743" b="-3922"/>
                </a:stretch>
              </a:blipFill>
            </p:spPr>
            <p:txBody>
              <a:bodyPr/>
              <a:lstStyle/>
              <a:p>
                <a:r>
                  <a:rPr lang="en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4517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11C07-0410-5096-0C26-61A99DB80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BAB73-8019-9125-3FB4-C8B5CEA83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11425"/>
            <a:ext cx="9144000" cy="1835150"/>
          </a:xfrm>
        </p:spPr>
        <p:txBody>
          <a:bodyPr>
            <a:normAutofit/>
          </a:bodyPr>
          <a:lstStyle/>
          <a:p>
            <a:r>
              <a:rPr lang="ru-RU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Критерии остановки роста дерева</a:t>
            </a:r>
            <a:endParaRPr lang="en-RU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507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C526E-A999-A385-228B-B685731A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DCEB4-5650-C595-598B-2AD038331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8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Отсутствие остановки</a:t>
            </a:r>
            <a:endParaRPr lang="en-RU" sz="48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E427CF9-5F2E-B3BF-3ABE-49D6AA2C7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1742"/>
            <a:ext cx="11242964" cy="582385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dirty="0"/>
              <a:t>Если </a:t>
            </a:r>
            <a:r>
              <a:rPr lang="ru-RU" b="1" dirty="0"/>
              <a:t>не остановить рост дерева</a:t>
            </a:r>
            <a:r>
              <a:rPr lang="ru-RU" dirty="0"/>
              <a:t>, то:</a:t>
            </a:r>
          </a:p>
          <a:p>
            <a:pPr>
              <a:buFont typeface="Wingdings" pitchFamily="2" charset="2"/>
              <a:buChar char="ü"/>
            </a:pPr>
            <a:r>
              <a:rPr lang="ru-RU" dirty="0"/>
              <a:t>Алгоритм будет продолжать делить данные до тех пор, пока каждый лист не станет содержать </a:t>
            </a:r>
            <a:r>
              <a:rPr lang="ru-RU" b="1" dirty="0"/>
              <a:t>ровно один объект</a:t>
            </a:r>
            <a:r>
              <a:rPr lang="ru-RU" dirty="0"/>
              <a:t>.</a:t>
            </a:r>
          </a:p>
          <a:p>
            <a:pPr>
              <a:buFont typeface="Wingdings" pitchFamily="2" charset="2"/>
              <a:buChar char="ü"/>
            </a:pPr>
            <a:r>
              <a:rPr lang="ru-RU" dirty="0"/>
              <a:t>Это приведёт к </a:t>
            </a:r>
            <a:r>
              <a:rPr lang="ru-RU" b="1" dirty="0"/>
              <a:t>полному переобучению</a:t>
            </a:r>
            <a:r>
              <a:rPr lang="ru-RU" dirty="0"/>
              <a:t> (</a:t>
            </a:r>
            <a:r>
              <a:rPr lang="en-GB" b="1" dirty="0"/>
              <a:t>overfitting</a:t>
            </a:r>
            <a:r>
              <a:rPr lang="en-GB" dirty="0"/>
              <a:t>) — </a:t>
            </a:r>
            <a:r>
              <a:rPr lang="ru-RU" dirty="0"/>
              <a:t>дерево идеально запомнит обучающую выборку, но будет плохо работать на новых данных.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  <a:p>
            <a:pPr marL="0" indent="0">
              <a:buNone/>
            </a:pPr>
            <a:r>
              <a:rPr lang="ru-RU" b="1" dirty="0"/>
              <a:t>Поэтому обязательно нужны условия, которые остановят рост дерева заранее!</a:t>
            </a:r>
            <a:endParaRPr lang="ru-RU" dirty="0"/>
          </a:p>
          <a:p>
            <a:pPr marL="0" indent="0"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0981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DB864-0CCB-CBAD-59C0-58EEDCECB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0E9E1-7345-07C3-3B29-54A949B7F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8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Критерии</a:t>
            </a:r>
            <a:endParaRPr lang="en-RU" sz="48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135F291-7B63-DF8C-2820-5BDE8FBE7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1742"/>
            <a:ext cx="11242964" cy="58238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dirty="0"/>
              <a:t>1. Все объекты в узле имеют одинаковый класс</a:t>
            </a:r>
          </a:p>
          <a:p>
            <a:pPr marL="0" indent="0">
              <a:buNone/>
            </a:pPr>
            <a:r>
              <a:rPr lang="ru-RU" dirty="0"/>
              <a:t>2. Нет признаков, по которым можно разделить объекты</a:t>
            </a:r>
          </a:p>
          <a:p>
            <a:pPr marL="0" indent="0">
              <a:buNone/>
            </a:pPr>
            <a:r>
              <a:rPr lang="ru-RU" dirty="0"/>
              <a:t>3. Достигнут лимит глубины дерева (</a:t>
            </a:r>
            <a:r>
              <a:rPr lang="en-GB" dirty="0" err="1"/>
              <a:t>max_depth</a:t>
            </a:r>
            <a:r>
              <a:rPr lang="en-GB" dirty="0"/>
              <a:t>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4. Размер узла стал слишком маленьким (</a:t>
            </a:r>
            <a:r>
              <a:rPr lang="en-GB" dirty="0" err="1"/>
              <a:t>min_samples_split</a:t>
            </a:r>
            <a:r>
              <a:rPr lang="en-GB" dirty="0"/>
              <a:t>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5. Размер получающихся потомков будет слишком маленьким (</a:t>
            </a:r>
            <a:r>
              <a:rPr lang="en-GB" dirty="0" err="1"/>
              <a:t>min_samples_leaf</a:t>
            </a:r>
            <a:r>
              <a:rPr lang="en-GB" dirty="0"/>
              <a:t>)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6. Малое уменьшение нечистоты (</a:t>
            </a:r>
            <a:r>
              <a:rPr lang="en-GB" dirty="0" err="1"/>
              <a:t>min_impurity_decrease</a:t>
            </a:r>
            <a:r>
              <a:rPr lang="en-GB" dirty="0"/>
              <a:t>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4440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621F7-4BE4-25BF-68A5-2503B11E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559C5-BF4E-1290-B556-AF86FFE76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647218" cy="990600"/>
          </a:xfrm>
        </p:spPr>
        <p:txBody>
          <a:bodyPr>
            <a:noAutofit/>
          </a:bodyPr>
          <a:lstStyle/>
          <a:p>
            <a:r>
              <a:rPr lang="ru-RU" sz="48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Критерии</a:t>
            </a:r>
            <a:endParaRPr lang="en-RU" sz="48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F70154C-8224-9D3B-9F6B-53D44885B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276960"/>
              </p:ext>
            </p:extLst>
          </p:nvPr>
        </p:nvGraphicFramePr>
        <p:xfrm>
          <a:off x="838200" y="1030707"/>
          <a:ext cx="10760242" cy="50292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4600073">
                  <a:extLst>
                    <a:ext uri="{9D8B030D-6E8A-4147-A177-3AD203B41FA5}">
                      <a16:colId xmlns:a16="http://schemas.microsoft.com/office/drawing/2014/main" val="1628380263"/>
                    </a:ext>
                  </a:extLst>
                </a:gridCol>
                <a:gridCol w="3092116">
                  <a:extLst>
                    <a:ext uri="{9D8B030D-6E8A-4147-A177-3AD203B41FA5}">
                      <a16:colId xmlns:a16="http://schemas.microsoft.com/office/drawing/2014/main" val="1698005794"/>
                    </a:ext>
                  </a:extLst>
                </a:gridCol>
                <a:gridCol w="3068053">
                  <a:extLst>
                    <a:ext uri="{9D8B030D-6E8A-4147-A177-3AD203B41FA5}">
                      <a16:colId xmlns:a16="http://schemas.microsoft.com/office/drawing/2014/main" val="3270251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b="1" dirty="0"/>
                        <a:t>Критерий</a:t>
                      </a:r>
                      <a:endParaRPr lang="ru-R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b="1" dirty="0"/>
                        <a:t>Что происходит</a:t>
                      </a:r>
                      <a:endParaRPr lang="ru-RU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2400" b="1" dirty="0"/>
                        <a:t>Пример</a:t>
                      </a:r>
                      <a:endParaRPr lang="ru-RU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5992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/>
                        <a:t>Все объекты одного класса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/>
                        <a:t>Узел чистый, нет смысла делить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/>
                        <a:t>Все = “Купит”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212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/>
                        <a:t>Нет вариативности признаков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/>
                        <a:t>Делить невозможно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/>
                        <a:t>Все имеют возраст 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1764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/>
                        <a:t>Достигли максимальной глубины (</a:t>
                      </a:r>
                      <a:r>
                        <a:rPr lang="en-GB" sz="2400"/>
                        <a:t>max_depth)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/>
                        <a:t>Принудительная остановка роста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/>
                        <a:t>Глубина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8056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/>
                        <a:t>Мало объектов для деления (</a:t>
                      </a:r>
                      <a:r>
                        <a:rPr lang="en-GB" sz="2400"/>
                        <a:t>min_samples_split)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/>
                        <a:t>Узел слишком маленький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/>
                        <a:t>Меньше 5 объектов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9146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/>
                        <a:t>Мало объектов в листе (</a:t>
                      </a:r>
                      <a:r>
                        <a:rPr lang="en-GB" sz="2400" dirty="0" err="1"/>
                        <a:t>min_samples_leaf</a:t>
                      </a:r>
                      <a:r>
                        <a:rPr lang="en-GB" sz="24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/>
                        <a:t>Потомки будут слишком маленькими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/>
                        <a:t>Меньше 3 объектов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618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/>
                        <a:t>Мизерное улучшение нечистоты (</a:t>
                      </a:r>
                      <a:r>
                        <a:rPr lang="en-GB" sz="2400" dirty="0" err="1"/>
                        <a:t>min_impurity_decrease</a:t>
                      </a:r>
                      <a:r>
                        <a:rPr lang="en-GB" sz="24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/>
                        <a:t>Деление бессмысленно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/>
                        <a:t>Улучшение &lt; 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6824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655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C0F6B-6222-A666-2B20-0548674D4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6AD60-54B9-7E2F-7FB0-62A34ACC0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1353800" cy="990600"/>
          </a:xfrm>
        </p:spPr>
        <p:txBody>
          <a:bodyPr>
            <a:noAutofit/>
          </a:bodyPr>
          <a:lstStyle/>
          <a:p>
            <a:r>
              <a:rPr lang="ru-RU" sz="46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Программная реализация (</a:t>
            </a:r>
            <a:r>
              <a:rPr lang="en-US" sz="46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Python</a:t>
            </a:r>
            <a:r>
              <a:rPr lang="ru-RU" sz="46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)</a:t>
            </a:r>
            <a:endParaRPr lang="en-RU" sz="46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E7B6ED-5BAE-EF7A-F562-2A2AAC639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866274"/>
            <a:ext cx="8113295" cy="5978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0667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AF77F-E7BB-E101-D099-099A42CCE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64BD2-5D41-A928-D05C-11AC22740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1353800" cy="990600"/>
          </a:xfrm>
        </p:spPr>
        <p:txBody>
          <a:bodyPr>
            <a:noAutofit/>
          </a:bodyPr>
          <a:lstStyle/>
          <a:p>
            <a:r>
              <a:rPr lang="ru-RU" sz="46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Программная реализация (</a:t>
            </a:r>
            <a:r>
              <a:rPr lang="en-US" sz="46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Python</a:t>
            </a:r>
            <a:r>
              <a:rPr lang="ru-RU" sz="46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)</a:t>
            </a:r>
            <a:endParaRPr lang="en-RU" sz="46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C3FAEE9-9B56-0C86-77CE-FD9CD0FDFA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746882"/>
              </p:ext>
            </p:extLst>
          </p:nvPr>
        </p:nvGraphicFramePr>
        <p:xfrm>
          <a:off x="838199" y="990601"/>
          <a:ext cx="11168744" cy="531931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2460172">
                  <a:extLst>
                    <a:ext uri="{9D8B030D-6E8A-4147-A177-3AD203B41FA5}">
                      <a16:colId xmlns:a16="http://schemas.microsoft.com/office/drawing/2014/main" val="2175184520"/>
                    </a:ext>
                  </a:extLst>
                </a:gridCol>
                <a:gridCol w="8708572">
                  <a:extLst>
                    <a:ext uri="{9D8B030D-6E8A-4147-A177-3AD203B41FA5}">
                      <a16:colId xmlns:a16="http://schemas.microsoft.com/office/drawing/2014/main" val="2160021188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b="1" dirty="0"/>
                        <a:t>Параметр</a:t>
                      </a:r>
                      <a:endParaRPr lang="ru-RU" sz="24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b="1"/>
                        <a:t>Описание</a:t>
                      </a:r>
                      <a:endParaRPr lang="ru-RU" sz="2400"/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15525279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/>
                        <a:t>criterion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/>
                        <a:t>Критерий качества разбиения ('</a:t>
                      </a:r>
                      <a:r>
                        <a:rPr lang="en-GB" sz="2400"/>
                        <a:t>gini', 'entropy' </a:t>
                      </a:r>
                      <a:r>
                        <a:rPr lang="ru-RU" sz="2400"/>
                        <a:t>для классификации; '</a:t>
                      </a:r>
                      <a:r>
                        <a:rPr lang="en-GB" sz="2400"/>
                        <a:t>squared_error', 'absolute_error' </a:t>
                      </a:r>
                      <a:r>
                        <a:rPr lang="ru-RU" sz="2400"/>
                        <a:t>для регрессии)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84124063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max_depth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/>
                        <a:t>Максимальная глубина дерева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168208366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min_samples_split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/>
                        <a:t>Минимальное количество объектов для дальнейшего разбиения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188694653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min_samples_leaf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/>
                        <a:t>Минимальное количество объектов в конечном листе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875995535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max_features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/>
                        <a:t>Максимальное количество признаков, которое можно использовать при разбиении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631825395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random_state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/>
                        <a:t>Фиксация генератора случайных чисел для воспроизводимости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885753854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/>
                        <a:t>min_impurity_decrease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/>
                        <a:t>Минимальное уменьшение нечистоты для проведения разбиения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316244638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400" dirty="0" err="1"/>
                        <a:t>class_weight</a:t>
                      </a:r>
                      <a:endParaRPr lang="en-GB" sz="24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2400" dirty="0"/>
                        <a:t>Веса классов (для компенсации несбалансированных классов)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914931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64059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5CA35-E623-D039-9BBC-3D75C85A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CA26-9196-B689-901D-CB3FA82DB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1353800" cy="990600"/>
          </a:xfrm>
        </p:spPr>
        <p:txBody>
          <a:bodyPr>
            <a:noAutofit/>
          </a:bodyPr>
          <a:lstStyle/>
          <a:p>
            <a:r>
              <a:rPr lang="ru-RU" sz="46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Программная реализация (</a:t>
            </a:r>
            <a:r>
              <a:rPr lang="en-US" sz="46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Python</a:t>
            </a:r>
            <a:r>
              <a:rPr lang="ru-RU" sz="4600" b="1" dirty="0">
                <a:latin typeface="Fira Code" pitchFamily="49" charset="0"/>
                <a:ea typeface="Fira Code" pitchFamily="49" charset="0"/>
                <a:cs typeface="Fira Code" pitchFamily="49" charset="0"/>
              </a:rPr>
              <a:t>)</a:t>
            </a:r>
            <a:endParaRPr lang="en-RU" sz="4600" b="1" dirty="0">
              <a:latin typeface="Fira Code" pitchFamily="49" charset="0"/>
              <a:ea typeface="Fira Code" pitchFamily="49" charset="0"/>
              <a:cs typeface="Fira Code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FFB109-C2FD-788C-7BF2-184FE4FC3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990601"/>
            <a:ext cx="11145253" cy="560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4463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85DE2-0B32-3B64-B61E-C2FE3B688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8CF446D-AD9B-2582-6A49-753C46E15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094" y="-5999"/>
            <a:ext cx="9833811" cy="686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620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1516</TotalTime>
  <Words>1634</Words>
  <Application>Microsoft Macintosh PowerPoint</Application>
  <PresentationFormat>Widescreen</PresentationFormat>
  <Paragraphs>263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Calibri Light</vt:lpstr>
      <vt:lpstr>Cambria Math</vt:lpstr>
      <vt:lpstr>Fira Code</vt:lpstr>
      <vt:lpstr>Wingdings</vt:lpstr>
      <vt:lpstr>Office Theme</vt:lpstr>
      <vt:lpstr>Решающие деревья</vt:lpstr>
      <vt:lpstr>Идея решающих деревьев</vt:lpstr>
      <vt:lpstr>Некоторые определения</vt:lpstr>
      <vt:lpstr>Принцип работы</vt:lpstr>
      <vt:lpstr>Формальная запись дерева</vt:lpstr>
      <vt:lpstr>Иллюстрация на примере</vt:lpstr>
      <vt:lpstr>Почему это работает?</vt:lpstr>
      <vt:lpstr>Формула разбиений дерева</vt:lpstr>
      <vt:lpstr>Интуитивное объяснение</vt:lpstr>
      <vt:lpstr>Построение дерева: ключевые концепции</vt:lpstr>
      <vt:lpstr>«Построение дерева»</vt:lpstr>
      <vt:lpstr>Ключевые этапы</vt:lpstr>
      <vt:lpstr>Ключевые этапы</vt:lpstr>
      <vt:lpstr>Ключевые этапы</vt:lpstr>
      <vt:lpstr>Ключевые этапы</vt:lpstr>
      <vt:lpstr>Ключевые этапы</vt:lpstr>
      <vt:lpstr>Математика выбора разбиения</vt:lpstr>
      <vt:lpstr>Шаги построения дерева</vt:lpstr>
      <vt:lpstr>Оценка качества разбиения</vt:lpstr>
      <vt:lpstr>Функции нечистоты (классификация)</vt:lpstr>
      <vt:lpstr>Функции нечистоты (классификация)</vt:lpstr>
      <vt:lpstr>Функции нечистоты (регрессия)</vt:lpstr>
      <vt:lpstr>Функции нечистоты (регрессия)</vt:lpstr>
      <vt:lpstr>Выбор признаков и порогов</vt:lpstr>
      <vt:lpstr>Критерии остановки роста дерева</vt:lpstr>
      <vt:lpstr>Отсутствие остановки</vt:lpstr>
      <vt:lpstr>Критерии</vt:lpstr>
      <vt:lpstr>Критерии</vt:lpstr>
      <vt:lpstr>Программная реализация (Python)</vt:lpstr>
      <vt:lpstr>Программная реализация (Python)</vt:lpstr>
      <vt:lpstr>Программная реализация (Python)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Артем Голубничий</dc:creator>
  <cp:lastModifiedBy>Артем Голубничий</cp:lastModifiedBy>
  <cp:revision>13</cp:revision>
  <dcterms:created xsi:type="dcterms:W3CDTF">2025-04-27T05:20:45Z</dcterms:created>
  <dcterms:modified xsi:type="dcterms:W3CDTF">2025-06-09T07:45:54Z</dcterms:modified>
</cp:coreProperties>
</file>